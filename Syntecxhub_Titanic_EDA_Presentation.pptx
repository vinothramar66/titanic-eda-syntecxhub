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Survival Rate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3A8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74.2</c:v>
                </c:pt>
                <c:pt idx="1">
                  <c:v>18.9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3A8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1st Class</c:v>
                  </c:pt>
                  <c:pt idx="1">
                    <c:v>2nd Class</c:v>
                  </c:pt>
                  <c:pt idx="2">
                    <c:v>3rd Class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96.8</c:v>
                </c:pt>
                <c:pt idx="1">
                  <c:v>92.1</c:v>
                </c:pt>
                <c:pt idx="2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1st Class</c:v>
                  </c:pt>
                  <c:pt idx="1">
                    <c:v>2nd Class</c:v>
                  </c:pt>
                  <c:pt idx="2">
                    <c:v>3rd Class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36.9</c:v>
                </c:pt>
                <c:pt idx="1">
                  <c:v>15.7</c:v>
                </c:pt>
                <c:pt idx="2">
                  <c:v>13.5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Survival Rate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3A8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Child
(0-12)</c:v>
                  </c:pt>
                  <c:pt idx="1">
                    <c:v>Teen
(13-18)</c:v>
                  </c:pt>
                  <c:pt idx="2">
                    <c:v>Adult
(19-35)</c:v>
                  </c:pt>
                  <c:pt idx="3">
                    <c:v>Middle
(36-60)</c:v>
                  </c:pt>
                  <c:pt idx="4">
                    <c:v>Senior
(60+)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</c:v>
                </c:pt>
                <c:pt idx="1">
                  <c:v>42.9</c:v>
                </c:pt>
                <c:pt idx="2">
                  <c:v>38.3</c:v>
                </c:pt>
                <c:pt idx="3">
                  <c:v>40</c:v>
                </c:pt>
                <c:pt idx="4">
                  <c:v>22.7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3A8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Survival Rate</c:v>
                </c:pt>
              </c:strCache>
            </c:strRef>
          </c:tx>
          <c:spPr>
            <a:solidFill>
              <a:srgbClr val="1D4ED8"/>
            </a:solidFill>
            <a:ln w="38100" cap="flat">
              <a:solidFill>
                <a:srgbClr val="1D4E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3A8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D4ED8"/>
              </a:solidFill>
              <a:ln w="9525" cap="flat">
                <a:solidFill>
                  <a:srgbClr val="1D4E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 (Alone)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7+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30.4</c:v>
                </c:pt>
                <c:pt idx="1">
                  <c:v>55.3</c:v>
                </c:pt>
                <c:pt idx="2">
                  <c:v>57.8</c:v>
                </c:pt>
                <c:pt idx="3">
                  <c:v>72.4</c:v>
                </c:pt>
                <c:pt idx="4">
                  <c:v>20</c:v>
                </c:pt>
                <c:pt idx="5">
                  <c:v>33.3</c:v>
                </c:pt>
                <c:pt idx="6">
                  <c:v>12.5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3A8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Survival Rate</c:v>
                </c:pt>
              </c:strCache>
            </c:strRef>
          </c:tx>
          <c:spPr>
            <a:solidFill>
              <a:srgbClr val="1ABC9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3A8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BC9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B59B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Cherbourg (C)</c:v>
                  </c:pt>
                  <c:pt idx="1">
                    <c:v>Queenstown (Q)</c:v>
                  </c:pt>
                  <c:pt idx="2">
                    <c:v>Southampton (S)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55.4</c:v>
                </c:pt>
                <c:pt idx="1">
                  <c:v>39</c:v>
                </c:pt>
                <c:pt idx="2">
                  <c:v>33.7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3A8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3A8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Sex (Female)</c:v>
                  </c:pt>
                  <c:pt idx="1">
                    <c:v>Fare</c:v>
                  </c:pt>
                  <c:pt idx="2">
                    <c:v>Pclass (inverse)</c:v>
                  </c:pt>
                  <c:pt idx="3">
                    <c:v>FamilySize</c:v>
                  </c:pt>
                  <c:pt idx="4">
                    <c:v>IsAlone (inverse)</c:v>
                  </c:pt>
                  <c:pt idx="5">
                    <c:v>Age (inverse)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0.54</c:v>
                </c:pt>
                <c:pt idx="1">
                  <c:v>0.26</c:v>
                </c:pt>
                <c:pt idx="2">
                  <c:v>0.34</c:v>
                </c:pt>
                <c:pt idx="3">
                  <c:v>0.17</c:v>
                </c:pt>
                <c:pt idx="4">
                  <c:v>0.19</c:v>
                </c:pt>
                <c:pt idx="5">
                  <c:v>0.08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3A8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D4ED8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74320"/>
            <a:ext cx="1463040" cy="1463040"/>
          </a:xfrm>
          <a:prstGeom prst="ellipse">
            <a:avLst/>
          </a:prstGeom>
          <a:solidFill>
            <a:srgbClr val="06B6D4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320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🚢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DATASET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59436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891 Passengers  </a:t>
            </a:r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38.4% Survived  </a:t>
            </a:r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Features  </a:t>
            </a:r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 |  SyntecxHub Data Science Series  |  2024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73152" cy="10972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280160"/>
            <a:ext cx="640080" cy="640080"/>
          </a:xfrm>
          <a:prstGeom prst="ellipse">
            <a:avLst/>
          </a:prstGeom>
          <a:solidFill>
            <a:srgbClr val="1D4ED8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1247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15270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shape, dtypes, missingness inspection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286000"/>
            <a:ext cx="73152" cy="10972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2514600"/>
            <a:ext cx="640080" cy="640080"/>
          </a:xfrm>
          <a:prstGeom prst="ellipse">
            <a:avLst/>
          </a:prstGeom>
          <a:solidFill>
            <a:srgbClr val="06B6D4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23591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Analysis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276148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vs male survival rates — key driver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52044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520440"/>
            <a:ext cx="73152" cy="10972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Shape 16"/>
          <p:cNvSpPr/>
          <p:nvPr/>
        </p:nvSpPr>
        <p:spPr>
          <a:xfrm>
            <a:off x="411480" y="3749040"/>
            <a:ext cx="640080" cy="640080"/>
          </a:xfrm>
          <a:prstGeom prst="ellipse">
            <a:avLst/>
          </a:prstGeom>
          <a:solidFill>
            <a:srgbClr val="16A34A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35935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Analysis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399592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/ 2nd / 3rd class survival breakdown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05156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05156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4892040" y="1280160"/>
            <a:ext cx="640080" cy="640080"/>
          </a:xfrm>
          <a:prstGeom prst="ellipse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23560" y="11247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Analysis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623560" y="15270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buckets, violin plots, child priority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28600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286000"/>
            <a:ext cx="73152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Shape 28"/>
          <p:cNvSpPr/>
          <p:nvPr/>
        </p:nvSpPr>
        <p:spPr>
          <a:xfrm>
            <a:off x="4892040" y="2514600"/>
            <a:ext cx="640080" cy="640080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623560" y="23591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&amp; Fare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623560" y="276148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size sweet spot, embarkation ports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52044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520440"/>
            <a:ext cx="73152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Shape 34"/>
          <p:cNvSpPr/>
          <p:nvPr/>
        </p:nvSpPr>
        <p:spPr>
          <a:xfrm>
            <a:off x="4892040" y="3749040"/>
            <a:ext cx="640080" cy="640080"/>
          </a:xfrm>
          <a:prstGeom prst="ellipse">
            <a:avLst/>
          </a:prstGeom>
          <a:solidFill>
            <a:srgbClr val="DC2626">
              <a:alpha val="8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623560" y="35935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623560" y="399592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findings &amp; modelling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2011680" cy="1280160"/>
          </a:xfrm>
          <a:prstGeom prst="rect">
            <a:avLst/>
          </a:prstGeom>
          <a:solidFill>
            <a:srgbClr val="1E3A8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0058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891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8288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Total Passengers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960120"/>
            <a:ext cx="2011680" cy="128016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0058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342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42316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Survived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2011680" cy="128016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058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549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6344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Perished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960120"/>
            <a:ext cx="2011680" cy="1280160"/>
          </a:xfrm>
          <a:prstGeom prst="rect">
            <a:avLst/>
          </a:prstGeom>
          <a:solidFill>
            <a:srgbClr val="1D4ED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0058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12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90372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Features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2423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Missing Value Profile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834640"/>
          <a:ext cx="4572000" cy="18288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deck or flag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Impute by class+sex median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Embarked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with mode 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30352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Key Features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303520" y="2834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Survived — Target (0/1)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303520" y="31455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Pclass — Ticket class (1/2/3)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303520" y="34564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Sex — male / female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303520" y="37673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🎂 Age — Passenger age (years)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303520" y="40782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 SibSp / Parch — Family aboard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303520" y="4389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Fare — Ticket price (£)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303520" y="47000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🚢 Embarked — Port (C/Q/S)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 — Gender Was the Strongest Predictor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7548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1005840"/>
            <a:ext cx="3566160" cy="8229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303520" y="1005840"/>
            <a:ext cx="64008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Shape 4"/>
          <p:cNvSpPr/>
          <p:nvPr/>
        </p:nvSpPr>
        <p:spPr>
          <a:xfrm>
            <a:off x="5440680" y="1097280"/>
            <a:ext cx="640080" cy="640080"/>
          </a:xfrm>
          <a:prstGeom prst="ellipse">
            <a:avLst/>
          </a:prstGeom>
          <a:solidFill>
            <a:srgbClr val="1D4ED8">
              <a:alpha val="8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44068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♀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172200" y="10607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survival: 74.2%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72200" y="142646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 of 314 survived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03520" y="1993392"/>
            <a:ext cx="3566160" cy="8229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303520" y="1993392"/>
            <a:ext cx="64008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Shape 10"/>
          <p:cNvSpPr/>
          <p:nvPr/>
        </p:nvSpPr>
        <p:spPr>
          <a:xfrm>
            <a:off x="5440680" y="2084832"/>
            <a:ext cx="640080" cy="640080"/>
          </a:xfrm>
          <a:prstGeom prst="ellipse">
            <a:avLst/>
          </a:prstGeom>
          <a:solidFill>
            <a:srgbClr val="DC2626">
              <a:alpha val="8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5440680" y="20848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♂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172200" y="204825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survival: 18.9%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72200" y="241401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 of 577 survived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303520" y="2980944"/>
            <a:ext cx="3566160" cy="8229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03520" y="2980944"/>
            <a:ext cx="64008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Shape 16"/>
          <p:cNvSpPr/>
          <p:nvPr/>
        </p:nvSpPr>
        <p:spPr>
          <a:xfrm>
            <a:off x="5440680" y="3072384"/>
            <a:ext cx="640080" cy="640080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5440680" y="307238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172200" y="3035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difference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172200" y="34015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 (r=0.54)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303520" y="3968496"/>
            <a:ext cx="3566160" cy="8229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303520" y="3968496"/>
            <a:ext cx="64008" cy="822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5" name="Shape 22"/>
          <p:cNvSpPr/>
          <p:nvPr/>
        </p:nvSpPr>
        <p:spPr>
          <a:xfrm>
            <a:off x="5440680" y="4059936"/>
            <a:ext cx="640080" cy="640080"/>
          </a:xfrm>
          <a:prstGeom prst="ellipse">
            <a:avLst/>
          </a:prstGeom>
          <a:solidFill>
            <a:srgbClr val="16A34A">
              <a:alpha val="8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5440680" y="40599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📜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172200" y="40233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"Women first" policy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172200" y="43891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 protocol confirmed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 — Passenger Class Determined Life Chances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097280"/>
            <a:ext cx="3017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1097280"/>
            <a:ext cx="64008" cy="10972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4"/>
          <p:cNvSpPr/>
          <p:nvPr/>
        </p:nvSpPr>
        <p:spPr>
          <a:xfrm>
            <a:off x="5989320" y="123444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63%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995160" y="12070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1st Class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995160" y="15727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216 passengers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52160" y="2359152"/>
            <a:ext cx="3017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2359152"/>
            <a:ext cx="64008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5989320" y="2496312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</a:rPr>
              <a:t>47%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6995160" y="24688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2nd Class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995160" y="28346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184 passengers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52160" y="3621024"/>
            <a:ext cx="3017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52160" y="3621024"/>
            <a:ext cx="64008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5989320" y="3758184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</a:rPr>
              <a:t>24%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6995160" y="37307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3rd Class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995160" y="409651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491 passengers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3 — Children Had Priority, Elderly Faced the Hardest Odds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1005840"/>
            <a:ext cx="2926080" cy="8229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0" y="10972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👶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0" y="10607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Children (0-12)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0" y="14081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Highest priority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955280" y="11887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58.0%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989320" y="1993392"/>
            <a:ext cx="2926080" cy="8229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035040" y="208483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🧑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83680" y="204825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Teens (13-18)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83680" y="23957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Youth advantage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955280" y="217627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42.9%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989320" y="2980944"/>
            <a:ext cx="2926080" cy="8229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35040" y="3072384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👨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83680" y="30358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Adult (19-35)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58368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Near average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955280" y="316382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38.3%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989320" y="3968496"/>
            <a:ext cx="2926080" cy="8229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035040" y="4059936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👴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583680" y="4023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Senior (60+)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583680" y="43708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Lowest survival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955280" y="415137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22.7%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4 — Family Size &amp; Port of Embarkation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3891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937760" y="914400"/>
          <a:ext cx="39319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Correlation with Survival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914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Recommended Features for Modelling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760720" y="1417320"/>
            <a:ext cx="31546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4"/>
          <p:cNvSpPr/>
          <p:nvPr/>
        </p:nvSpPr>
        <p:spPr>
          <a:xfrm>
            <a:off x="5806440" y="14173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🥇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09360" y="14538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Sex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0" y="1508760"/>
            <a:ext cx="594360" cy="274320"/>
          </a:xfrm>
          <a:prstGeom prst="rect">
            <a:avLst/>
          </a:prstGeom>
          <a:solidFill>
            <a:srgbClr val="16A34A">
              <a:alpha val="8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8229600" y="15087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Very High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60720" y="2011680"/>
            <a:ext cx="31546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9"/>
          <p:cNvSpPr/>
          <p:nvPr/>
        </p:nvSpPr>
        <p:spPr>
          <a:xfrm>
            <a:off x="5806440" y="20116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🥈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09360" y="20482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Pclass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229600" y="2103120"/>
            <a:ext cx="594360" cy="274320"/>
          </a:xfrm>
          <a:prstGeom prst="rect">
            <a:avLst/>
          </a:prstGeom>
          <a:solidFill>
            <a:srgbClr val="1D4ED8">
              <a:alpha val="8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0" y="21031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60720" y="2606040"/>
            <a:ext cx="31546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4"/>
          <p:cNvSpPr/>
          <p:nvPr/>
        </p:nvSpPr>
        <p:spPr>
          <a:xfrm>
            <a:off x="5806440" y="26060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🥉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309360" y="26426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Age / AgeBucket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229600" y="2697480"/>
            <a:ext cx="594360" cy="274320"/>
          </a:xfrm>
          <a:prstGeom prst="rect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0" y="26974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760720" y="3200400"/>
            <a:ext cx="31546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19"/>
          <p:cNvSpPr/>
          <p:nvPr/>
        </p:nvSpPr>
        <p:spPr>
          <a:xfrm>
            <a:off x="5806440" y="32004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4️⃣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309360" y="32369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Fare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229600" y="3291840"/>
            <a:ext cx="594360" cy="27432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0" y="329184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Moderate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760720" y="3794760"/>
            <a:ext cx="31546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4"/>
          <p:cNvSpPr/>
          <p:nvPr/>
        </p:nvSpPr>
        <p:spPr>
          <a:xfrm>
            <a:off x="5806440" y="3794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5️⃣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309360" y="38313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FamilySize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229600" y="3886200"/>
            <a:ext cx="594360" cy="274320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8229600" y="38862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Moderate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760720" y="4389120"/>
            <a:ext cx="31546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Text 29"/>
          <p:cNvSpPr/>
          <p:nvPr/>
        </p:nvSpPr>
        <p:spPr>
          <a:xfrm>
            <a:off x="5806440" y="43891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6️⃣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309360" y="44256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Embarked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8229600" y="4480560"/>
            <a:ext cx="594360" cy="274320"/>
          </a:xfrm>
          <a:prstGeom prst="rect">
            <a:avLst/>
          </a:prstGeom>
          <a:solidFill>
            <a:srgbClr val="06B6D4">
              <a:alpha val="80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8229600" y="44805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Low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760720" y="4617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Model Accuracy: 80–83% (Random Forest / XGBoost)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Insights — Titanic EDA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4297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68680"/>
            <a:ext cx="64008" cy="1234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43000"/>
            <a:ext cx="685800" cy="68580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43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94183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drove survival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32588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Females: 74.2% vs Males: 18.9% — 4× difference. The strongest predictor (r = 0.54). "Women &amp; children first" protocol fully verified.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2880" y="2258568"/>
            <a:ext cx="4297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2258568"/>
            <a:ext cx="64008" cy="1234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2532888"/>
            <a:ext cx="685800" cy="6858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53288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23317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= life chances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715768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class: 63% | 2nd: 47% | 3rd: 24%. 1st class females were nearly all rescued (96.8%). Class determined deck position and lifeboat access.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3648456"/>
            <a:ext cx="4297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3648456"/>
            <a:ext cx="64008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922776"/>
            <a:ext cx="685800" cy="6858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92277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97280" y="372160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had priority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4105656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(0-12) had the highest survival (58%). Seniors (60+) had the lowest (22.7%). Age-based priority was practiced during evacuation.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868680"/>
            <a:ext cx="4297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868680"/>
            <a:ext cx="64008" cy="1234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114300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143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623560" y="94183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size sweet spot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23560" y="132588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of 2-4 had ~57% survival. Solo travelers: 30.4%. Very large families (7+) dropped below 20% — coordination difficulty.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2258568"/>
            <a:ext cx="4297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258568"/>
            <a:ext cx="64008" cy="12344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0" name="Shape 28"/>
          <p:cNvSpPr/>
          <p:nvPr/>
        </p:nvSpPr>
        <p:spPr>
          <a:xfrm>
            <a:off x="4846320" y="2532888"/>
            <a:ext cx="685800" cy="6858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53288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623560" y="23317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&amp; port reflect class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23560" y="2715768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fares correlated with better survival. Cherbourg (55%) &gt; Queenstown (39%) &gt; Southampton (34%), reflecting passenger class mix.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D4ED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🚢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EDA — Project 1 Complete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59436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2608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Titanic Competition (kaggle.com/competitions/titanic)  </a:t>
            </a:r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Project by: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SyntecxHub Data Science Series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Build ML classifiers (Random Forest, XGBoost)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67912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Feature engineering &amp; cross-validation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215384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Hyperparameter tuning for 80%+ accuracy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562856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Model deployment with FastAPI / Streamlit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Titanic EDA – Project 1</dc:title>
  <dc:subject>PptxGenJS Presentation</dc:subject>
  <dc:creator>SyntecxHub Data Science</dc:creator>
  <cp:lastModifiedBy>SyntecxHub Data Science</cp:lastModifiedBy>
  <cp:revision>1</cp:revision>
  <dcterms:created xsi:type="dcterms:W3CDTF">2026-04-20T15:38:34Z</dcterms:created>
  <dcterms:modified xsi:type="dcterms:W3CDTF">2026-04-20T15:38:34Z</dcterms:modified>
</cp:coreProperties>
</file>